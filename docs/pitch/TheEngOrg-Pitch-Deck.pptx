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11887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E8E8E8"/>
                </a:solidFill>
                <a:latin typeface="Calibri"/>
              </a:defRPr>
            </a:pPr>
            <a:r>
              <a:t>TheEngOrg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A9BB0"/>
                </a:solidFill>
                <a:latin typeface="Courier New"/>
              </a:defRPr>
            </a:pPr>
            <a:r>
              <a:t>The AI Engineering Organization.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30352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A9BB0"/>
                </a:solidFill>
                <a:latin typeface="Courier New"/>
              </a:defRPr>
            </a:pPr>
            <a:r>
              <a:t>$3M Seed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E8"/>
                </a:solidFill>
                <a:latin typeface="Calibri"/>
              </a:defRPr>
            </a:pPr>
            <a:r>
              <a:t>AI copilots made</a:t>
            </a:r>
            <a:br/>
            <a:r>
              <a:t>developers faster.</a:t>
            </a:r>
            <a:br/>
            <a:r>
              <a:t>They made teams slower.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"We need better planning... a better way of doing</a:t>
            </a:r>
            <a:br/>
            <a:r>
              <a:t>maintenance work, refactoring, updates. I used to be</a:t>
            </a:r>
            <a:br/>
            <a:r>
              <a:t>a craftsman — now I feel like a factory manager."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9BB0"/>
                </a:solidFill>
                <a:latin typeface="Courier New"/>
              </a:defRPr>
            </a:pPr>
            <a:r>
              <a:t>— Michael Parker, VP Eng, TurinTech (Stack Overflow, 2026) [FPO]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0972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715F"/>
                </a:solidFill>
                <a:latin typeface="Courier New"/>
              </a:defRPr>
            </a:pPr>
            <a:r>
              <a:t>41%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1143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  <a:r>
              <a:t>more bugs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554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9BB0"/>
                </a:solidFill>
                <a:latin typeface="Courier New"/>
              </a:defRPr>
            </a:pPr>
            <a:r>
              <a:t>Uplevel, 800 devs,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743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715F"/>
                </a:solidFill>
                <a:latin typeface="Courier New"/>
              </a:defRPr>
            </a:pPr>
            <a:r>
              <a:t>44%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788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  <a:r>
              <a:t>code churn increase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3200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9BB0"/>
                </a:solidFill>
                <a:latin typeface="Courier New"/>
              </a:defRPr>
            </a:pPr>
            <a:r>
              <a:t>GitClear, 211M lines,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89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715F"/>
                </a:solidFill>
                <a:latin typeface="Courier New"/>
              </a:defRPr>
            </a:pPr>
            <a:r>
              <a:t>10x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  <a:r>
              <a:t>security vulnerabilities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9BB0"/>
                </a:solidFill>
                <a:latin typeface="Courier New"/>
              </a:defRPr>
            </a:pPr>
            <a:r>
              <a:t>Apiiro, 62K repos,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035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715F"/>
                </a:solidFill>
                <a:latin typeface="Courier New"/>
              </a:defRPr>
            </a:pPr>
            <a:r>
              <a:t>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080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  <a:r>
              <a:t>actually slower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9BB0"/>
                </a:solidFill>
                <a:latin typeface="Courier New"/>
              </a:defRPr>
            </a:pPr>
            <a:r>
              <a:t>METR RCT,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E8E8"/>
                </a:solidFill>
                <a:latin typeface="Calibri"/>
              </a:defRPr>
            </a:pPr>
            <a:r>
              <a:t>The cost of uncoordinated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E8715F"/>
                </a:solidFill>
                <a:latin typeface="Courier New"/>
              </a:defRPr>
            </a:pPr>
            <a:r>
              <a:t>73%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A9BB0"/>
                </a:solidFill>
                <a:latin typeface="Calibri"/>
              </a:defRPr>
            </a:pPr>
            <a:r>
              <a:t>of AI agent</a:t>
            </a:r>
            <a:br/>
            <a:r>
              <a:t>projects fail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32004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E8715F"/>
                </a:solidFill>
                <a:latin typeface="Courier New"/>
              </a:defRPr>
            </a:pPr>
            <a:r>
              <a:t>$847K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5720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A9BB0"/>
                </a:solidFill>
                <a:latin typeface="Calibri"/>
              </a:defRPr>
            </a:pPr>
            <a:r>
              <a:t>average cost of</a:t>
            </a:r>
            <a:br/>
            <a:r>
              <a:t>a failed AI rollout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2004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E8715F"/>
                </a:solidFill>
                <a:latin typeface="Courier New"/>
              </a:defRPr>
            </a:pPr>
            <a:r>
              <a:t>4.2x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5720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A9BB0"/>
                </a:solidFill>
                <a:latin typeface="Calibri"/>
              </a:defRPr>
            </a:pPr>
            <a:r>
              <a:t>longer to debug</a:t>
            </a:r>
            <a:br/>
            <a:r>
              <a:t>than to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64008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E8E8"/>
                </a:solidFill>
                <a:latin typeface="Calibri"/>
              </a:defRPr>
            </a:pPr>
            <a:r>
              <a:t>The problem is not the AI. The problem is the org chart.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E8E8E8"/>
                </a:solidFill>
                <a:latin typeface="Calibri"/>
              </a:defRPr>
            </a:pPr>
            <a:r>
              <a:t>AI copilots help developers write code.</a:t>
            </a:r>
            <a:br/>
            <a:r>
              <a:t>We replaced the org chart.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ourier New"/>
              </a:defRPr>
            </a:pPr>
            <a:r>
              <a:t>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2926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"Write this function"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926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Autocomplete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ourier New"/>
              </a:defRPr>
            </a:pPr>
            <a:r>
              <a:t>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"Do this task"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Task execution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B"/>
                </a:solidFill>
                <a:latin typeface="Courier New"/>
              </a:defRPr>
            </a:pPr>
            <a:r>
              <a:t>AI Eng Org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4389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"Ship this feature — correctly"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89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84B"/>
                </a:solidFill>
                <a:latin typeface="Calibri"/>
              </a:defRPr>
            </a:pPr>
            <a:r>
              <a:t>Organizational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9436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A84B"/>
                </a:solidFill>
                <a:latin typeface="Courier New"/>
              </a:defRPr>
            </a:pPr>
            <a:r>
              <a:t>24 agents. One org chart. Zero humans required to coordinate.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E8E8"/>
                </a:solidFill>
                <a:latin typeface="Calibri"/>
              </a:defRPr>
            </a:pPr>
            <a:r>
              <a:t>Terminal-native. Zero infrastructure.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A9BB0"/>
                </a:solidFill>
                <a:latin typeface="Calibri"/>
              </a:defRPr>
            </a:pPr>
            <a:r>
              <a:t>One command. The right agents spawn. Quality-gated output lands in your 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11887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ourier New"/>
              </a:defRPr>
            </a:pPr>
            <a:r>
              <a:t>$ /mg-build implement auth-refactor</a:t>
            </a:r>
            <a:br/>
            <a:r>
              <a:t>[SAGE]  Scope: ARCHITECTURAL — spawning CTO                     0.4s</a:t>
            </a:r>
            <a:br/>
            <a:r>
              <a:t>[CTO]   Architecture review — auth layer isolation confirmed     2.1s</a:t>
            </a:r>
            <a:br/>
            <a:r>
              <a:t>[QA]    Test spec — 8 acceptance criteria, misuse-first          6.2s</a:t>
            </a:r>
            <a:br/>
            <a:r>
              <a:t>[DEV]   Implementing against spec                               21.1s</a:t>
            </a:r>
            <a:br/>
            <a:r>
              <a:t>[GATE]  Coverage 99.4% ✓  All tests passing ✓                    0.3s</a:t>
            </a:r>
            <a:br/>
            <a:r>
              <a:t>[EM]    Done — PR created with tests, docs, security review    30.1s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400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84B"/>
                </a:solidFill>
                <a:latin typeface="Courier New"/>
              </a:defRPr>
            </a:pPr>
            <a:r>
              <a:t>$5K/mo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858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BB0"/>
                </a:solidFill>
                <a:latin typeface="Courier New"/>
              </a:defRPr>
            </a:pPr>
            <a:r>
              <a:t>API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00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84B"/>
                </a:solidFill>
                <a:latin typeface="Courier New"/>
              </a:defRPr>
            </a:pPr>
            <a: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858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BB0"/>
                </a:solidFill>
                <a:latin typeface="Courier New"/>
              </a:defRPr>
            </a:pPr>
            <a:r>
              <a:t>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00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84B"/>
                </a:solidFill>
                <a:latin typeface="Courier New"/>
              </a:defRPr>
            </a:pPr>
            <a: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858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BB0"/>
                </a:solidFill>
                <a:latin typeface="Courier New"/>
              </a:defRPr>
            </a:pPr>
            <a:r>
              <a:t>servers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84B"/>
                </a:solidFill>
                <a:latin typeface="Courier New"/>
              </a:defRPr>
            </a:pPr>
            <a:r>
              <a:t>~95%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858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BB0"/>
                </a:solidFill>
                <a:latin typeface="Courier New"/>
              </a:defRPr>
            </a:pPr>
            <a:r>
              <a:t>gross margin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THE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E8E8"/>
                </a:solidFill>
                <a:latin typeface="Calibri"/>
              </a:defRPr>
            </a:pPr>
            <a:r>
              <a:t>Better constitutions beat better models.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ourier New"/>
              </a:defRPr>
            </a:pPr>
            <a:r>
              <a:t>Config A — Weak constitution + Opus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2743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A9BB0"/>
                </a:solidFill>
                <a:latin typeface="Courier New"/>
              </a:defRPr>
            </a:pPr>
            <a:r>
              <a:t>0.957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84B"/>
                </a:solidFill>
                <a:latin typeface="Courier New"/>
              </a:defRPr>
            </a:pPr>
            <a:r>
              <a:t>Config C — Strong constitution + Sonnet 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3474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4A84B"/>
                </a:solidFill>
                <a:latin typeface="Courier New"/>
              </a:defRPr>
            </a:pPr>
            <a:r>
              <a:t>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Constitution quality &gt; Model quality. At 60% of the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8B8B"/>
                </a:solidFill>
                <a:latin typeface="Courier New"/>
              </a:defRPr>
            </a:pPr>
            <a:r>
              <a:t>Layer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Community (OSS)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303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9BB0"/>
                </a:solidFill>
                <a:latin typeface="Calibri"/>
              </a:defRPr>
            </a:pPr>
            <a:r>
              <a:t>Distribution engine — developers find us, adopt us, depend on 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6126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8B8B"/>
                </a:solidFill>
                <a:latin typeface="Courier New"/>
              </a:defRPr>
            </a:pPr>
            <a:r>
              <a:t>Layer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6126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B"/>
                </a:solidFill>
                <a:latin typeface="Calibri"/>
              </a:defRPr>
            </a:pPr>
            <a:r>
              <a:t>Enterprise 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126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9BB0"/>
                </a:solidFill>
                <a:latin typeface="Calibri"/>
              </a:defRPr>
            </a:pPr>
            <a:r>
              <a:t>Proprietary orchestration — the constitution that makes 1.000 possible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949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E8B8B"/>
                </a:solidFill>
                <a:latin typeface="Courier New"/>
              </a:defRPr>
            </a:pPr>
            <a: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6949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R&amp;D Flywheel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949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9BB0"/>
                </a:solidFill>
                <a:latin typeface="Calibri"/>
              </a:defRPr>
            </a:pPr>
            <a:r>
              <a:t>Every pilot improves the constitution. The moat compounds.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E8E8E8"/>
                </a:solidFill>
                <a:latin typeface="Calibri"/>
              </a:defRPr>
            </a:pPr>
            <a:r>
              <a:t>$800B in dev spend.</a:t>
            </a:r>
            <a:br/>
            <a:r>
              <a:t>The coordination layer doesn't exist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B8B"/>
                </a:solidFill>
                <a:latin typeface="Courier New"/>
              </a:defRPr>
            </a:pPr>
            <a:r>
              <a:t>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3200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84B"/>
                </a:solidFill>
                <a:latin typeface="Courier New"/>
              </a:defRPr>
            </a:pPr>
            <a:r>
              <a:t>$800B+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3200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A9BB0"/>
                </a:solidFill>
                <a:latin typeface="Calibri"/>
              </a:defRPr>
            </a:pPr>
            <a:r>
              <a:t>Global software development spend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97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B8B"/>
                </a:solidFill>
                <a:latin typeface="Courier New"/>
              </a:defRPr>
            </a:pPr>
            <a:r>
              <a:t>SAM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297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84B"/>
                </a:solidFill>
                <a:latin typeface="Courier New"/>
              </a:defRPr>
            </a:pPr>
            <a:r>
              <a:t>$50-100B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297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A9BB0"/>
                </a:solidFill>
                <a:latin typeface="Calibri"/>
              </a:defRPr>
            </a:pPr>
            <a:r>
              <a:t>AI-assisted development tools (by 2028)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94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B8B"/>
                </a:solidFill>
                <a:latin typeface="Courier New"/>
              </a:defRPr>
            </a:pPr>
            <a:r>
              <a:t>SOM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3949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84B"/>
                </a:solidFill>
                <a:latin typeface="Courier New"/>
              </a:defRPr>
            </a:pPr>
            <a:r>
              <a:t>$1-5B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5394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A9BB0"/>
                </a:solidFill>
                <a:latin typeface="Calibri"/>
              </a:defRPr>
            </a:pPr>
            <a:r>
              <a:t>Enterprise AI engineering platforms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4008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4A84B"/>
                </a:solidFill>
                <a:latin typeface="Courier New"/>
              </a:defRPr>
            </a:pPr>
            <a:r>
              <a:t>TheEngOrg does not compete with Copilot. We organize the AI workforce Copilot creates.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E8E8E8"/>
                </a:solidFill>
                <a:latin typeface="Calibri"/>
              </a:defRPr>
            </a:pPr>
            <a:r>
              <a:t>Open-source distribution.</a:t>
            </a:r>
            <a:br/>
            <a:r>
              <a:t>Enterprise monetization. No server bill.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E8E8"/>
                </a:solidFill>
                <a:latin typeface="Calibri"/>
              </a:defRPr>
            </a:pPr>
            <a:r>
              <a:t>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7490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E8E8"/>
                </a:solidFill>
                <a:latin typeface="Courier New"/>
              </a:defRPr>
            </a:pPr>
            <a:r>
              <a:t>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OSS framework, 20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4A84B"/>
                </a:solidFill>
                <a:latin typeface="Calibri"/>
              </a:defRPr>
            </a:pPr>
            <a:r>
              <a:t>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37490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4A84B"/>
                </a:solidFill>
                <a:latin typeface="Courier New"/>
              </a:defRPr>
            </a:pPr>
            <a:r>
              <a:t>$10,000/mo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Sage + 24 agents +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E8E8"/>
                </a:solidFill>
                <a:latin typeface="Calibri"/>
              </a:defRPr>
            </a:pPr>
            <a:r>
              <a:t>Strategic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37490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E8E8"/>
                </a:solidFill>
                <a:latin typeface="Courier New"/>
              </a:defRPr>
            </a:pPr>
            <a:r>
              <a:t>$18,000/mo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Custom constitutions + SLA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4A84B"/>
                </a:solidFill>
                <a:latin typeface="Courier New"/>
              </a:defRPr>
            </a:pPr>
            <a:r>
              <a:t>$1,200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217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BB0"/>
                </a:solidFill>
                <a:latin typeface="Courier New"/>
              </a:defRPr>
            </a:pPr>
            <a:r>
              <a:t>CAC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4A84B"/>
                </a:solidFill>
                <a:latin typeface="Courier New"/>
              </a:defRPr>
            </a:pPr>
            <a:r>
              <a:t>$240K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217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BB0"/>
                </a:solidFill>
                <a:latin typeface="Courier New"/>
              </a:defRPr>
            </a:pPr>
            <a:r>
              <a:t>LTV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4A84B"/>
                </a:solidFill>
                <a:latin typeface="Courier New"/>
              </a:defRPr>
            </a:pPr>
            <a:r>
              <a:t>16x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217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BB0"/>
                </a:solidFill>
                <a:latin typeface="Courier New"/>
              </a:defRPr>
            </a:pPr>
            <a:r>
              <a:t>LTV:CAC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4A84B"/>
                </a:solidFill>
                <a:latin typeface="Courier New"/>
              </a:defRPr>
            </a:pPr>
            <a:r>
              <a:t>~95%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217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BB0"/>
                </a:solidFill>
                <a:latin typeface="Courier New"/>
              </a:defRPr>
            </a:pPr>
            <a:r>
              <a:t>Margin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FINANCIALS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E8"/>
                </a:solidFill>
                <a:latin typeface="Calibri"/>
              </a:defRPr>
            </a:pPr>
            <a:r>
              <a:t>Cash-flow positive at Month 5.</a:t>
            </a:r>
            <a:br/>
            <a:r>
              <a:t>$3M grows, not depletes.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A9BB0"/>
                </a:solidFill>
                <a:latin typeface="Courier New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29768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A9BB0"/>
                </a:solidFill>
                <a:latin typeface="Courier New"/>
              </a:defRPr>
            </a:pPr>
            <a:r>
              <a:t>Y1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A9BB0"/>
                </a:solidFill>
                <a:latin typeface="Courier New"/>
              </a:defRPr>
            </a:pPr>
            <a:r>
              <a:t>Y2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A9BB0"/>
                </a:solidFill>
                <a:latin typeface="Courier New"/>
              </a:defRPr>
            </a:pPr>
            <a:r>
              <a:t>Y3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91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ourier New"/>
              </a:defRPr>
            </a:pPr>
            <a:r>
              <a:t>Base ARR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3291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  <a:latin typeface="Courier New"/>
              </a:defRPr>
            </a:pPr>
            <a:r>
              <a:t>$1.2M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3291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  <a:latin typeface="Courier New"/>
              </a:defRPr>
            </a:pPr>
            <a:r>
              <a:t>$3.6M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3291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  <a:latin typeface="Courier New"/>
              </a:defRPr>
            </a:pPr>
            <a:r>
              <a:t>$7.2M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023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84B"/>
                </a:solidFill>
                <a:latin typeface="Courier New"/>
              </a:defRPr>
            </a:pPr>
            <a:r>
              <a:t>Expected ARR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023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84B"/>
                </a:solidFill>
                <a:latin typeface="Courier New"/>
              </a:defRPr>
            </a:pPr>
            <a:r>
              <a:t>$2.4M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4023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84B"/>
                </a:solidFill>
                <a:latin typeface="Courier New"/>
              </a:defRPr>
            </a:pPr>
            <a:r>
              <a:t>$7.2M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4023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84B"/>
                </a:solidFill>
                <a:latin typeface="Courier New"/>
              </a:defRPr>
            </a:pPr>
            <a:r>
              <a:t>$12M+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486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4A84B"/>
                </a:solidFill>
                <a:latin typeface="Courier New"/>
              </a:defRPr>
            </a:pPr>
            <a:r>
              <a:t>Month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9BB0"/>
                </a:solidFill>
                <a:latin typeface="Calibri"/>
              </a:defRPr>
            </a:pPr>
            <a:r>
              <a:t>Cash-flow positive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5486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4A84B"/>
                </a:solidFill>
                <a:latin typeface="Courier New"/>
              </a:defRPr>
            </a:pPr>
            <a:r>
              <a:t>$2.9M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9BB0"/>
                </a:solidFill>
                <a:latin typeface="Calibri"/>
              </a:defRPr>
            </a:pPr>
            <a:r>
              <a:t>Minimum cash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5486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4A84B"/>
                </a:solidFill>
                <a:latin typeface="Courier New"/>
              </a:defRPr>
            </a:pPr>
            <a:r>
              <a:t>Optional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9BB0"/>
                </a:solidFill>
                <a:latin typeface="Calibri"/>
              </a:defRPr>
            </a:pPr>
            <a:r>
              <a:t>The Series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713232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A9BB0"/>
                </a:solidFill>
                <a:latin typeface="Calibri"/>
              </a:defRPr>
            </a:pPr>
            <a:r>
              <a:t>$35K/month burn. 85+ months of runway on the raise.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E8E8"/>
                </a:solidFill>
                <a:latin typeface="Calibri"/>
              </a:defRPr>
            </a:pPr>
            <a:r>
              <a:t>Two pilots live. Sage scores 1.000.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B8B"/>
                </a:solidFill>
                <a:latin typeface="Courier New"/>
              </a:defRPr>
            </a:pPr>
            <a: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Calibri"/>
              </a:defRPr>
            </a:pPr>
            <a:r>
              <a:t>— v4.2 shipped — 24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Calibri"/>
              </a:defRPr>
            </a:pPr>
            <a:r>
              <a:t>— Autonomous daemon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480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Calibri"/>
              </a:defRPr>
            </a:pPr>
            <a:r>
              <a:t>— Multiple releases per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926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B8B"/>
                </a:solidFill>
                <a:latin typeface="Courier New"/>
              </a:defRPr>
            </a:pPr>
            <a:r>
              <a:t>Benchmarks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Calibri"/>
              </a:defRPr>
            </a:pPr>
            <a:r>
              <a:t>— Sage: 1.000 / 1.000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4023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Calibri"/>
              </a:defRPr>
            </a:pPr>
            <a:r>
              <a:t>— Config C: 60% cost, same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4480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Calibri"/>
              </a:defRPr>
            </a:pPr>
            <a:r>
              <a:t>— Model-agnostic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926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B8B"/>
                </a:solidFill>
                <a:latin typeface="Courier New"/>
              </a:defRPr>
            </a:pPr>
            <a:r>
              <a:t>Pilots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Calibri"/>
              </a:defRPr>
            </a:pPr>
            <a:r>
              <a:t>— 2 startup clients onboarded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4023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Calibri"/>
              </a:defRPr>
            </a:pPr>
            <a:r>
              <a:t>— 60-day structured pilots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4480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Calibri"/>
              </a:defRPr>
            </a:pPr>
            <a:r>
              <a:t>— Founding Partner pricing 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9436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D4A84B"/>
                </a:solidFill>
                <a:latin typeface="Courier New"/>
              </a:defRPr>
            </a:pPr>
            <a:r>
              <a:t>1.000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6858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A9BB0"/>
                </a:solidFill>
                <a:latin typeface="Calibri"/>
              </a:defRPr>
            </a:pPr>
            <a:r>
              <a:t>Sage benchmark score. Cheaper model. Better output.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E8E8"/>
                </a:solidFill>
                <a:latin typeface="Calibri"/>
              </a:defRPr>
            </a:pPr>
            <a:r>
              <a:t>$3M at $9M pre. Base case: 15x.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9BB0"/>
                </a:solidFill>
                <a:latin typeface="Courier New"/>
              </a:defRPr>
            </a:pPr>
            <a:r>
              <a:t>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9BB0"/>
                </a:solidFill>
                <a:latin typeface="Courier New"/>
              </a:defRPr>
            </a:pPr>
            <a:r>
              <a:t>Exit ARR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9BB0"/>
                </a:solidFill>
                <a:latin typeface="Courier New"/>
              </a:defRPr>
            </a:pPr>
            <a:r>
              <a:t>Multiple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9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A9BB0"/>
                </a:solidFill>
                <a:latin typeface="Courier New"/>
              </a:defRPr>
            </a:pPr>
            <a:r>
              <a:t>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ourier New"/>
              </a:defRPr>
            </a:pPr>
            <a:r>
              <a:t>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ourier New"/>
              </a:defRPr>
            </a:pPr>
            <a:r>
              <a:t>$15M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ourier New"/>
              </a:defRPr>
            </a:pPr>
            <a:r>
              <a:t>6x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9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ourier New"/>
              </a:defRPr>
            </a:pPr>
            <a:r>
              <a:t>15x — $45M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4A84B"/>
                </a:solidFill>
                <a:latin typeface="Courier New"/>
              </a:defRPr>
            </a:pPr>
            <a:r>
              <a:t>Expected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4A84B"/>
                </a:solidFill>
                <a:latin typeface="Courier New"/>
              </a:defRPr>
            </a:pPr>
            <a:r>
              <a:t>$20M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4A84B"/>
                </a:solidFill>
                <a:latin typeface="Courier New"/>
              </a:defRPr>
            </a:pPr>
            <a:r>
              <a:t>8x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9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4A84B"/>
                </a:solidFill>
                <a:latin typeface="Courier New"/>
              </a:defRPr>
            </a:pPr>
            <a:r>
              <a:t>16x — $48M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ourier New"/>
              </a:defRPr>
            </a:pPr>
            <a:r>
              <a:t>Upside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ourier New"/>
              </a:defRPr>
            </a:pPr>
            <a:r>
              <a:t>$100M+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ourier New"/>
              </a:defRPr>
            </a:pPr>
            <a:r>
              <a:t>15x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9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ourier New"/>
              </a:defRPr>
            </a:pPr>
            <a:r>
              <a:t>48–66x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486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D4A84B"/>
                </a:solidFill>
                <a:latin typeface="Courier New"/>
              </a:defRPr>
            </a:pPr>
            <a:r>
              <a:t>21.5x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A9BB0"/>
                </a:solidFill>
                <a:latin typeface="Calibri"/>
              </a:defRPr>
            </a:pPr>
            <a:r>
              <a:t>Probability-weighted EV. Double the fail weight: still 17x.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731520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E8B8B"/>
                </a:solidFill>
                <a:latin typeface="Courier New"/>
              </a:defRPr>
            </a:pPr>
            <a:r>
              <a:t>Devin raised at $2B. Cursor at $400M. You're buying this at $9M with better unit economics than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8E8E8"/>
                </a:solidFill>
                <a:latin typeface="Calibri"/>
              </a:defRPr>
            </a:pPr>
            <a:r>
              <a:t>Founding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A9BB0"/>
                </a:solidFill>
                <a:latin typeface="Calibri"/>
              </a:defRPr>
            </a:pPr>
            <a:r>
              <a:t>Solo technical founder. Built the entire framework — 24 agents, autonomous daemon pipeline, marketing site — at $35K/month burn. No team. No outside capital.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8B8B"/>
                </a:solidFill>
                <a:latin typeface="Courier New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E8E8"/>
                </a:solidFill>
                <a:latin typeface="Calibri"/>
              </a:defRPr>
            </a:pPr>
            <a:r>
              <a:t>Dev team + Sales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5029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8B8B"/>
                </a:solidFill>
                <a:latin typeface="Courier New"/>
              </a:defRPr>
            </a:pPr>
            <a:r>
              <a:t>Month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E8E8"/>
                </a:solidFill>
                <a:latin typeface="Calibri"/>
              </a:defRPr>
            </a:pPr>
            <a:r>
              <a:t>Signing customers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5029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8B8B"/>
                </a:solidFill>
                <a:latin typeface="Courier New"/>
              </a:defRPr>
            </a:pPr>
            <a:r>
              <a:t>Month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E8E8"/>
                </a:solidFill>
                <a:latin typeface="Calibri"/>
              </a:defRPr>
            </a:pPr>
            <a:r>
              <a:t>Integration + feedback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68580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E8E8"/>
                </a:solidFill>
                <a:latin typeface="Calibri"/>
              </a:defRPr>
            </a:pPr>
            <a:r>
              <a:t>The product is built. The team is the bottleneck. That's what the raise solves.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8E8E8"/>
                </a:solidFill>
                <a:latin typeface="Calibri"/>
              </a:defRPr>
            </a:pPr>
            <a:r>
              <a:t>$3M to own the AI org layer.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4A84B"/>
                </a:solidFill>
                <a:latin typeface="Courier New"/>
              </a:defRPr>
            </a:pPr>
            <a:r>
              <a:t>$3M Seed  |  $9M Pre-Money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B8B"/>
                </a:solidFill>
                <a:latin typeface="Courier New"/>
              </a:defRPr>
            </a:pPr>
            <a:r>
              <a:t>Year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Founder + eng team</a:t>
            </a:r>
            <a:br/>
            <a:r>
              <a:t>Pilot → 10 clients</a:t>
            </a:r>
            <a:br/>
            <a:r>
              <a:t>$420K burn/mo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4114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B8B"/>
                </a:solidFill>
                <a:latin typeface="Courier New"/>
              </a:defRPr>
            </a:pPr>
            <a:r>
              <a:t>Year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5-person team</a:t>
            </a:r>
            <a:br/>
            <a:r>
              <a:t>Scale to 50+ clients</a:t>
            </a:r>
            <a:br/>
            <a:r>
              <a:t>$906K burn/mo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4114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B8B"/>
                </a:solidFill>
                <a:latin typeface="Courier New"/>
              </a:defRPr>
            </a:pPr>
            <a:r>
              <a:t>Path to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$3-10M ARR</a:t>
            </a:r>
            <a:br/>
            <a:r>
              <a:t>$30-100M valuation</a:t>
            </a:r>
            <a:br/>
            <a:r>
              <a:t>18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658368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4A84B"/>
                </a:solidFill>
                <a:latin typeface="Calibri"/>
              </a:defRPr>
            </a:pPr>
            <a:r>
              <a:t>The most capital-efficient AI seed deal in the market.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48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B8B"/>
                </a:solidFill>
                <a:latin typeface="Courier New"/>
              </a:defRPr>
            </a:pPr>
            <a:r>
              <a:t>BENCHMARK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E8E8"/>
                </a:solidFill>
                <a:latin typeface="Calibri"/>
              </a:defRPr>
            </a:pPr>
            <a:r>
              <a:t>How we measure. Why it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BB0"/>
                </a:solidFill>
                <a:latin typeface="Calibri"/>
              </a:defRPr>
            </a:pPr>
            <a:r>
              <a:t>No industry benchmark exists for multi-agent AI coordination. SWE-bench tests single-agent code gen. HumanEval tests completion. Neither measures organizational intelligence. We defined this benchmark because nobody else is measuring what matters.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B8B"/>
                </a:solidFill>
                <a:latin typeface="Courier New"/>
              </a:defRPr>
            </a:pPr>
            <a:r>
              <a:t>5 WEIGHTED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B"/>
                </a:solidFill>
                <a:latin typeface="Courier New"/>
              </a:defRPr>
            </a:pPr>
            <a:r>
              <a:t>0.30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E8E8"/>
                </a:solidFill>
                <a:latin typeface="Calibri"/>
              </a:defRPr>
            </a:pPr>
            <a:r>
              <a:t>Decision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2918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alibri"/>
              </a:defRPr>
            </a:pPr>
            <a:r>
              <a:t>Are agent outputs specific, differentiated, and actionable? Scored 1-5 on 3 dimensions + swap test.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9319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B"/>
                </a:solidFill>
                <a:latin typeface="Courier New"/>
              </a:defRPr>
            </a:pPr>
            <a:r>
              <a:t>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E8E8"/>
                </a:solidFill>
                <a:latin typeface="Calibri"/>
              </a:defRPr>
            </a:pPr>
            <a:r>
              <a:t>Research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9319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alibri"/>
              </a:defRPr>
            </a:pPr>
            <a:r>
              <a:t>4 binary gates: problem mapping, shallow detection, specialist spawning, ceiling recognition.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572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B"/>
                </a:solidFill>
                <a:latin typeface="Courier New"/>
              </a:defRPr>
            </a:pPr>
            <a:r>
              <a:t>0.20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E8E8"/>
                </a:solidFill>
                <a:latin typeface="Calibri"/>
              </a:defRPr>
            </a:pPr>
            <a:r>
              <a:t>Drift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5720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alibri"/>
              </a:defRPr>
            </a:pPr>
            <a:r>
              <a:t>Given a flawed scenario (skipped gate, false approval), does the Sage catch it and propose recovery?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21207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B"/>
                </a:solidFill>
                <a:latin typeface="Courier New"/>
              </a:defRPr>
            </a:pPr>
            <a:r>
              <a:t>0.15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2120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E8E8"/>
                </a:solidFill>
                <a:latin typeface="Calibri"/>
              </a:defRPr>
            </a:pPr>
            <a:r>
              <a:t>Intake 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21207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alibri"/>
              </a:defRPr>
            </a:pPr>
            <a:r>
              <a:t>3 prompts with known-correct routing. Binary correct/incorrect per prompt.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852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84B"/>
                </a:solidFill>
                <a:latin typeface="Courier New"/>
              </a:defRPr>
            </a:pPr>
            <a:r>
              <a:t>0.10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E8E8"/>
                </a:solidFill>
                <a:latin typeface="Calibri"/>
              </a:defRPr>
            </a:pPr>
            <a:r>
              <a:t>Session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58521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alibri"/>
              </a:defRPr>
            </a:pPr>
            <a:r>
              <a:t>Break points at dependency boundaries, snapshot quality, cold-start priming.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583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B8B"/>
                </a:solidFill>
                <a:latin typeface="Courier New"/>
              </a:defRPr>
            </a:pPr>
            <a:r>
              <a:t>4 CONFIGURATIONS TESTED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6858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A9BB0"/>
                </a:solidFill>
                <a:latin typeface="Courier New"/>
              </a:defRPr>
            </a:pPr>
            <a:r>
              <a:t>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68580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A9BB0"/>
                </a:solidFill>
                <a:latin typeface="Courier New"/>
              </a:defRPr>
            </a:pPr>
            <a:r>
              <a:t>Setup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6858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A9BB0"/>
                </a:solidFill>
                <a:latin typeface="Courier New"/>
              </a:defRPr>
            </a:pPr>
            <a: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858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A9BB0"/>
                </a:solidFill>
                <a:latin typeface="Courier New"/>
              </a:defRPr>
            </a:pPr>
            <a:r>
              <a:t>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71780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ourier New"/>
              </a:defRPr>
            </a:pPr>
            <a: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717804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ourier New"/>
              </a:defRPr>
            </a:pPr>
            <a:r>
              <a:t>Weak constitutions + Opus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71780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A9BB0"/>
                </a:solidFill>
                <a:latin typeface="Courier New"/>
              </a:defRPr>
            </a:pPr>
            <a:r>
              <a:t>0.957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71780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ourier New"/>
              </a:defRPr>
            </a:pPr>
            <a:r>
              <a:t>~100%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7434071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8E8"/>
                </a:solidFill>
                <a:latin typeface="Courier New"/>
              </a:defRPr>
            </a:pPr>
            <a: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7434071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ourier New"/>
              </a:defRPr>
            </a:pPr>
            <a:r>
              <a:t>Strong constitutions + Opus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7434071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E8E8"/>
                </a:solidFill>
                <a:latin typeface="Courier New"/>
              </a:defRPr>
            </a:pPr>
            <a:r>
              <a:t>1.000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7434071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ourier New"/>
              </a:defRPr>
            </a:pPr>
            <a: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7690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84B"/>
                </a:solidFill>
                <a:latin typeface="Courier New"/>
              </a:defRPr>
            </a:pPr>
            <a:r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7690104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4A84B"/>
                </a:solidFill>
                <a:latin typeface="Courier New"/>
              </a:defRPr>
            </a:pPr>
            <a:r>
              <a:t>Strong constitutions + tiered (Opus/Sonnet)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76901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84B"/>
                </a:solidFill>
                <a:latin typeface="Courier New"/>
              </a:defRPr>
            </a:pPr>
            <a:r>
              <a:t>1.000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76901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4A84B"/>
                </a:solidFill>
                <a:latin typeface="Courier New"/>
              </a:defRPr>
            </a:pPr>
            <a:r>
              <a:t>~60%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79461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ourier New"/>
              </a:defRPr>
            </a:pPr>
            <a: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794613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ourier New"/>
              </a:defRPr>
            </a:pPr>
            <a:r>
              <a:t>Strong constitutions + Sonnet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794613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A9BB0"/>
                </a:solidFill>
                <a:latin typeface="Courier New"/>
              </a:defRPr>
            </a:pPr>
            <a:r>
              <a:t>0.957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794613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BB0"/>
                </a:solidFill>
                <a:latin typeface="Courier New"/>
              </a:defRPr>
            </a:pPr>
            <a:r>
              <a:t>~40%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