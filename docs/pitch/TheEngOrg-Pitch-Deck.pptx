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11887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E8E8E8"/>
                </a:solidFill>
                <a:latin typeface="Calibri"/>
              </a:defRPr>
            </a:pPr>
            <a:r>
              <a:t>TheEngOrg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A9BB0"/>
                </a:solidFill>
                <a:latin typeface="Courier New"/>
              </a:defRPr>
            </a:pPr>
            <a:r>
              <a:t>The AI Engineering Organization.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9BB0"/>
                </a:solidFill>
                <a:latin typeface="Courier New"/>
              </a:defRPr>
            </a:pPr>
            <a:r>
              <a:t>$3M Seed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8B8B"/>
                </a:solidFill>
                <a:latin typeface="Courier New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8E8"/>
                </a:solidFill>
                <a:latin typeface="Calibri"/>
              </a:defRPr>
            </a:pPr>
            <a:r>
              <a:t>AI copilots made</a:t>
            </a:r>
            <a:br/>
            <a:r>
              <a:t>developers faster.</a:t>
            </a:r>
            <a:br/>
            <a:r>
              <a:t>They made teams slower.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BB0"/>
                </a:solidFill>
                <a:latin typeface="Calibri"/>
              </a:defRPr>
            </a:pPr>
            <a:r>
              <a:t>"We need better planning... a better way of doing</a:t>
            </a:r>
            <a:br/>
            <a:r>
              <a:t>maintenance work, refactoring, updates.</a:t>
            </a:r>
            <a:br/>
            <a:r>
              <a:t>I used to be a craftsman — now I feel like a factory manager."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BB0"/>
                </a:solidFill>
                <a:latin typeface="Courier New"/>
              </a:defRPr>
            </a:pPr>
            <a:r>
              <a:t>— Michael Parker, VP Eng, TurinTech (Stack Overflow, 2026) [FPO]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09728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23443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715F"/>
                </a:solidFill>
                <a:latin typeface="Courier New"/>
              </a:defRPr>
            </a:pPr>
            <a:r>
              <a:t>41%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12344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8E8"/>
                </a:solidFill>
                <a:latin typeface="Calibri"/>
              </a:defRPr>
            </a:pPr>
            <a:r>
              <a:t>more bugs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16459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BB0"/>
                </a:solidFill>
                <a:latin typeface="Courier New"/>
              </a:defRPr>
            </a:pPr>
            <a:r>
              <a:t>Uplevel, 800 devs, 2024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74320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8803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715F"/>
                </a:solidFill>
                <a:latin typeface="Courier New"/>
              </a:defRPr>
            </a:pPr>
            <a:r>
              <a:t>44%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88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8E8"/>
                </a:solidFill>
                <a:latin typeface="Calibri"/>
              </a:defRPr>
            </a:pPr>
            <a:r>
              <a:t>code churn increase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3291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BB0"/>
                </a:solidFill>
                <a:latin typeface="Courier New"/>
              </a:defRPr>
            </a:pPr>
            <a:r>
              <a:t>GitClear, 211M lines, 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38912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526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715F"/>
                </a:solidFill>
                <a:latin typeface="Courier New"/>
              </a:defRPr>
            </a:pPr>
            <a:r>
              <a:t>10x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4526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8E8"/>
                </a:solidFill>
                <a:latin typeface="Calibri"/>
              </a:defRPr>
            </a:pPr>
            <a:r>
              <a:t>security vulnerabilities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49377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BB0"/>
                </a:solidFill>
                <a:latin typeface="Courier New"/>
              </a:defRPr>
            </a:pPr>
            <a:r>
              <a:t>Apiiro, 62K repos, 2025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603504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6172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715F"/>
                </a:solidFill>
                <a:latin typeface="Courier New"/>
              </a:defRPr>
            </a:pPr>
            <a:r>
              <a:t>19%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172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8E8"/>
                </a:solidFill>
                <a:latin typeface="Calibri"/>
              </a:defRPr>
            </a:pPr>
            <a:r>
              <a:t>actually slower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83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BB0"/>
                </a:solidFill>
                <a:latin typeface="Courier New"/>
              </a:defRPr>
            </a:pPr>
            <a:r>
              <a:t>METR RCT,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8B8B"/>
                </a:solidFill>
                <a:latin typeface="Courier New"/>
              </a:defRPr>
            </a:pPr>
            <a:r>
              <a:t>THE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E8E8E8"/>
                </a:solidFill>
                <a:latin typeface="Calibri"/>
              </a:defRPr>
            </a:pPr>
            <a:r>
              <a:t>The cost of uncoordinated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74320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3017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E8715F"/>
                </a:solidFill>
                <a:latin typeface="Courier New"/>
              </a:defRPr>
            </a:pPr>
            <a:r>
              <a:t>73%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1148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9BB0"/>
                </a:solidFill>
                <a:latin typeface="Calibri"/>
              </a:defRPr>
            </a:pPr>
            <a:r>
              <a:t>of AI agent</a:t>
            </a:r>
            <a:br/>
            <a:r>
              <a:t>projects fail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274320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3017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E8715F"/>
                </a:solidFill>
                <a:latin typeface="Courier New"/>
              </a:defRPr>
            </a:pPr>
            <a:r>
              <a:t>$847K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1148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9BB0"/>
                </a:solidFill>
                <a:latin typeface="Calibri"/>
              </a:defRPr>
            </a:pPr>
            <a:r>
              <a:t>avg cost of</a:t>
            </a:r>
            <a:br/>
            <a:r>
              <a:t>a failed AI rollout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274320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0" y="3017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E8715F"/>
                </a:solidFill>
                <a:latin typeface="Courier New"/>
              </a:defRPr>
            </a:pPr>
            <a:r>
              <a:t>4.2x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41148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9BB0"/>
                </a:solidFill>
                <a:latin typeface="Calibri"/>
              </a:defRPr>
            </a:pPr>
            <a:r>
              <a:t>longer to debug</a:t>
            </a:r>
            <a:br/>
            <a:r>
              <a:t>than to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64008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E8E8"/>
                </a:solidFill>
                <a:latin typeface="Calibri"/>
              </a:defRPr>
            </a:pPr>
            <a:r>
              <a:t>The problem is not the AI. The problem is the org chart.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8B8B"/>
                </a:solidFill>
                <a:latin typeface="Courier New"/>
              </a:defRPr>
            </a:pPr>
            <a:r>
              <a:t>THE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8E8"/>
                </a:solidFill>
                <a:latin typeface="Calibri"/>
              </a:defRPr>
            </a:pPr>
            <a:r>
              <a:t>AI copilots help developers write code.</a:t>
            </a:r>
            <a:br/>
            <a:r>
              <a:t>We replaced the org chart.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A9BB0"/>
                </a:solidFill>
                <a:latin typeface="Calibri"/>
              </a:defRPr>
            </a:pPr>
            <a:r>
              <a:t>This is not a better AI tool. It's a new category.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474720"/>
            <a:ext cx="11887200" cy="73152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36118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8E8"/>
                </a:solidFill>
                <a:latin typeface="Courier New"/>
              </a:defRPr>
            </a:pPr>
            <a:r>
              <a:t>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6118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BB0"/>
                </a:solidFill>
                <a:latin typeface="Calibri"/>
              </a:defRPr>
            </a:pPr>
            <a:r>
              <a:t>"Write this function"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6118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Calibri"/>
              </a:defRPr>
            </a:pPr>
            <a:r>
              <a:t>Autocomplete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389120"/>
            <a:ext cx="11887200" cy="73152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526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8E8"/>
                </a:solidFill>
                <a:latin typeface="Courier New"/>
              </a:defRPr>
            </a:pPr>
            <a:r>
              <a:t>AI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526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BB0"/>
                </a:solidFill>
                <a:latin typeface="Calibri"/>
              </a:defRPr>
            </a:pPr>
            <a:r>
              <a:t>"Do this task"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Calibri"/>
              </a:defRPr>
            </a:pPr>
            <a:r>
              <a:t>Task execution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5303520"/>
            <a:ext cx="11887200" cy="73152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5440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84B"/>
                </a:solidFill>
                <a:latin typeface="Courier New"/>
              </a:defRPr>
            </a:pPr>
            <a:r>
              <a:t>AI Eng Org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5440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BB0"/>
                </a:solidFill>
                <a:latin typeface="Calibri"/>
              </a:defRPr>
            </a:pPr>
            <a:r>
              <a:t>"Ship this — correctly"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440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84B"/>
                </a:solidFill>
                <a:latin typeface="Calibri"/>
              </a:defRPr>
            </a:pPr>
            <a:r>
              <a:t>Organizational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8580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4A84B"/>
                </a:solidFill>
                <a:latin typeface="Courier New"/>
              </a:defRPr>
            </a:pPr>
            <a:r>
              <a:t>24 agents. One org chart. Zero humans required to coordinate.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8B8B"/>
                </a:solidFill>
                <a:latin typeface="Courier New"/>
              </a:defRPr>
            </a:pPr>
            <a: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E8E8E8"/>
                </a:solidFill>
                <a:latin typeface="Calibri"/>
              </a:defRPr>
            </a:pPr>
            <a:r>
              <a:t>Terminal-native. Zero infrastructure.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BB0"/>
                </a:solidFill>
                <a:latin typeface="Calibri"/>
              </a:defRPr>
            </a:pPr>
            <a:r>
              <a:t>One command. The right agents spawn. Quality-gated output lands in your repo.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743200"/>
            <a:ext cx="12344400" cy="292608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11887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B0"/>
                </a:solidFill>
                <a:latin typeface="Courier New"/>
              </a:defRPr>
            </a:pPr>
            <a:r>
              <a:t>$ /mg-build implement auth-refactor</a:t>
            </a:r>
            <a:br/>
            <a:r>
              <a:t>[SAGE]  Scope: ARCHITECTURAL — spawning CTO                     0.4s</a:t>
            </a:r>
            <a:br/>
            <a:r>
              <a:t>[CTO]   Architecture review — auth layer isolation confirmed     2.1s</a:t>
            </a:r>
            <a:br/>
            <a:r>
              <a:t>[QA]    Test spec — 8 acceptance criteria, misuse-first          6.2s</a:t>
            </a:r>
            <a:br/>
            <a:r>
              <a:t>[DEV]   Implementing against spec                               21.1s</a:t>
            </a:r>
            <a:br/>
            <a:r>
              <a:t>[GATE]  Coverage 99.4% ✓  All tests passing ✓                    0.3s</a:t>
            </a:r>
            <a:br/>
            <a:r>
              <a:t>[EM]    Done — PR created with tests, docs, security review    30.1s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40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4A84B"/>
                </a:solidFill>
                <a:latin typeface="Courier New"/>
              </a:defRPr>
            </a:pPr>
            <a:r>
              <a:t>$5K/mo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858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B0"/>
                </a:solidFill>
                <a:latin typeface="Courier New"/>
              </a:defRPr>
            </a:pPr>
            <a:r>
              <a:t>API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0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4A84B"/>
                </a:solidFill>
                <a:latin typeface="Courier New"/>
              </a:defRPr>
            </a:pPr>
            <a: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858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B0"/>
                </a:solidFill>
                <a:latin typeface="Courier New"/>
              </a:defRPr>
            </a:pPr>
            <a:r>
              <a:t>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40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4A84B"/>
                </a:solidFill>
                <a:latin typeface="Courier New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858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B0"/>
                </a:solidFill>
                <a:latin typeface="Courier New"/>
              </a:defRPr>
            </a:pPr>
            <a:r>
              <a:t>servers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4A84B"/>
                </a:solidFill>
                <a:latin typeface="Courier New"/>
              </a:defRPr>
            </a:pPr>
            <a:r>
              <a:t>~95%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858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B0"/>
                </a:solidFill>
                <a:latin typeface="Courier New"/>
              </a:defRPr>
            </a:pPr>
            <a:r>
              <a:t>gross margin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8B8B"/>
                </a:solidFill>
                <a:latin typeface="Courier New"/>
              </a:defRPr>
            </a:pPr>
            <a:r>
              <a:t>THE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E8E8E8"/>
                </a:solidFill>
                <a:latin typeface="Calibri"/>
              </a:defRPr>
            </a:pPr>
            <a:r>
              <a:t>Better constitutions beat better models.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BB0"/>
                </a:solidFill>
                <a:latin typeface="Courier New"/>
              </a:defRPr>
            </a:pPr>
            <a:r>
              <a:t>Config A — Weak constitution + Opus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926080"/>
            <a:ext cx="9144000" cy="320040"/>
          </a:xfrm>
          <a:prstGeom prst="roundRect">
            <a:avLst>
              <a:gd name="adj" fmla="val 50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2926080"/>
            <a:ext cx="8750808" cy="320040"/>
          </a:xfrm>
          <a:prstGeom prst="roundRect">
            <a:avLst>
              <a:gd name="adj" fmla="val 50000"/>
            </a:avLst>
          </a:prstGeom>
          <a:solidFill>
            <a:srgbClr val="8A9BB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2880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A9BB0"/>
                </a:solidFill>
                <a:latin typeface="Courier New"/>
              </a:defRPr>
            </a:pPr>
            <a:r>
              <a:t>0.957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84B"/>
                </a:solidFill>
                <a:latin typeface="Courier New"/>
              </a:defRPr>
            </a:pPr>
            <a:r>
              <a:t>Config C — Strong constitution + Sonnet 4.5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023360"/>
            <a:ext cx="9144000" cy="320040"/>
          </a:xfrm>
          <a:prstGeom prst="roundRect">
            <a:avLst>
              <a:gd name="adj" fmla="val 50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4023360"/>
            <a:ext cx="9144000" cy="320040"/>
          </a:xfrm>
          <a:prstGeom prst="roundRect">
            <a:avLst>
              <a:gd name="adj" fmla="val 50000"/>
            </a:avLst>
          </a:prstGeom>
          <a:solidFill>
            <a:srgbClr val="D4A84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84B"/>
                </a:solidFill>
                <a:latin typeface="Courier New"/>
              </a:defRPr>
            </a:pPr>
            <a:r>
              <a:t>1.000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663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8E8"/>
                </a:solidFill>
                <a:latin typeface="Calibri"/>
              </a:defRPr>
            </a:pPr>
            <a:r>
              <a:t>Constitution quality &gt; Model quality. At 60% of the cost.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5303520"/>
            <a:ext cx="11430000" cy="68580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539495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8B8B"/>
                </a:solidFill>
                <a:latin typeface="Courier New"/>
              </a:defRPr>
            </a:pPr>
            <a:r>
              <a:t>Layer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3949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8B8B"/>
                </a:solidFill>
                <a:latin typeface="Calibri"/>
              </a:defRPr>
            </a:pPr>
            <a:r>
              <a:t>Community (OSS)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39495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B0"/>
                </a:solidFill>
                <a:latin typeface="Calibri"/>
              </a:defRPr>
            </a:pPr>
            <a:r>
              <a:t>Distribution engine — developers find us, adopt us, depend on 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6126480"/>
            <a:ext cx="11430000" cy="68580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6217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4A84B"/>
                </a:solidFill>
                <a:latin typeface="Courier New"/>
              </a:defRPr>
            </a:pPr>
            <a:r>
              <a:t>Layer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84B"/>
                </a:solidFill>
                <a:latin typeface="Calibri"/>
              </a:defRPr>
            </a:pPr>
            <a:r>
              <a:t>Enterprise 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2179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B0"/>
                </a:solidFill>
                <a:latin typeface="Calibri"/>
              </a:defRPr>
            </a:pPr>
            <a:r>
              <a:t>Proprietary orchestration — the constitution that makes 1.000 possible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6949440"/>
            <a:ext cx="11430000" cy="68580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70408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7C59"/>
                </a:solidFill>
                <a:latin typeface="Courier New"/>
              </a:defRPr>
            </a:pPr>
            <a:r>
              <a:t>Layer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70408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7C59"/>
                </a:solidFill>
                <a:latin typeface="Calibri"/>
              </a:defRPr>
            </a:pPr>
            <a:r>
              <a:t>R&amp;D Flywheel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704087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B0"/>
                </a:solidFill>
                <a:latin typeface="Calibri"/>
              </a:defRPr>
            </a:pPr>
            <a:r>
              <a:t>Every pilot improves the constitution. The moat compounds.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8B8B"/>
                </a:solidFill>
                <a:latin typeface="Courier New"/>
              </a:defRPr>
            </a:pPr>
            <a:r>
              <a:t>THE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8E8"/>
                </a:solidFill>
                <a:latin typeface="Calibri"/>
              </a:defRPr>
            </a:pPr>
            <a:r>
              <a:t>$800B in dev spend.</a:t>
            </a:r>
            <a:br/>
            <a:r>
              <a:t>The coordination layer doesn't exist yet.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200400"/>
            <a:ext cx="11430000" cy="100584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B8B"/>
                </a:solidFill>
                <a:latin typeface="Courier New"/>
              </a:defRPr>
            </a:pPr>
            <a: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84B"/>
                </a:solidFill>
                <a:latin typeface="Courier New"/>
              </a:defRPr>
            </a:pPr>
            <a:r>
              <a:t>$800B+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3383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BB0"/>
                </a:solidFill>
                <a:latin typeface="Calibri"/>
              </a:defRPr>
            </a:pPr>
            <a:r>
              <a:t>Global software dev spend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480560"/>
            <a:ext cx="11430000" cy="100584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B8B"/>
                </a:solidFill>
                <a:latin typeface="Courier New"/>
              </a:defRPr>
            </a:pPr>
            <a:r>
              <a:t>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84B"/>
                </a:solidFill>
                <a:latin typeface="Courier New"/>
              </a:defRPr>
            </a:pPr>
            <a:r>
              <a:t>$50-100B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663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BB0"/>
                </a:solidFill>
                <a:latin typeface="Calibri"/>
              </a:defRPr>
            </a:pPr>
            <a:r>
              <a:t>AI-assisted dev tools (2028)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760720"/>
            <a:ext cx="11430000" cy="100584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5943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B8B"/>
                </a:solidFill>
                <a:latin typeface="Courier New"/>
              </a:defRPr>
            </a:pPr>
            <a:r>
              <a:t>SOM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5943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84B"/>
                </a:solidFill>
                <a:latin typeface="Courier New"/>
              </a:defRPr>
            </a:pPr>
            <a:r>
              <a:t>$1-5B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5943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BB0"/>
                </a:solidFill>
                <a:latin typeface="Calibri"/>
              </a:defRPr>
            </a:pPr>
            <a:r>
              <a:t>Enterprise AI eng platforms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71323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4A84B"/>
                </a:solidFill>
                <a:latin typeface="Courier New"/>
              </a:defRPr>
            </a:pPr>
            <a:r>
              <a:t>We don't compete with Copilot. We organize the AI workforce Copilot creates.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8B8B"/>
                </a:solidFill>
                <a:latin typeface="Courier New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8E8"/>
                </a:solidFill>
                <a:latin typeface="Calibri"/>
              </a:defRPr>
            </a:pPr>
            <a:r>
              <a:t>Open-source distribution.</a:t>
            </a:r>
            <a:br/>
            <a:r>
              <a:t>Enterprise monetization. No server bill.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743200"/>
            <a:ext cx="3840480" cy="228600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B8B"/>
                </a:solidFill>
                <a:latin typeface="Calibri"/>
              </a:defRPr>
            </a:pPr>
            <a:r>
              <a:t>Community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8B8B"/>
                </a:solidFill>
                <a:latin typeface="Courier New"/>
              </a:defRPr>
            </a:pPr>
            <a: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B0"/>
                </a:solidFill>
                <a:latin typeface="Calibri"/>
              </a:defRPr>
            </a:pPr>
            <a:r>
              <a:t>OSS framework, 20 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2743200"/>
            <a:ext cx="3840480" cy="228600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84B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84B"/>
                </a:solidFill>
                <a:latin typeface="Courier New"/>
              </a:defRPr>
            </a:pPr>
            <a:r>
              <a:t>$10,000/mo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B0"/>
                </a:solidFill>
                <a:latin typeface="Calibri"/>
              </a:defRPr>
            </a:pPr>
            <a:r>
              <a:t>Sage + 24 agents +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49840" y="2743200"/>
            <a:ext cx="3840480" cy="228600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E8E8"/>
                </a:solidFill>
                <a:latin typeface="Calibri"/>
              </a:defRPr>
            </a:pPr>
            <a:r>
              <a:t>Strategic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8E8"/>
                </a:solidFill>
                <a:latin typeface="Courier New"/>
              </a:defRPr>
            </a:pPr>
            <a:r>
              <a:t>$18,000/mo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B0"/>
                </a:solidFill>
                <a:latin typeface="Calibri"/>
              </a:defRPr>
            </a:pPr>
            <a:r>
              <a:t>Custom constitutions + SLA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669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84B"/>
                </a:solidFill>
                <a:latin typeface="Courier New"/>
              </a:defRPr>
            </a:pPr>
            <a:r>
              <a:t>$1,200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B0"/>
                </a:solidFill>
                <a:latin typeface="Courier New"/>
              </a:defRPr>
            </a:pPr>
            <a:r>
              <a:t>CAC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669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84B"/>
                </a:solidFill>
                <a:latin typeface="Courier New"/>
              </a:defRPr>
            </a:pPr>
            <a:r>
              <a:t>$240K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B0"/>
                </a:solidFill>
                <a:latin typeface="Courier New"/>
              </a:defRPr>
            </a:pPr>
            <a:r>
              <a:t>LTV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669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84B"/>
                </a:solidFill>
                <a:latin typeface="Courier New"/>
              </a:defRPr>
            </a:pPr>
            <a:r>
              <a:t>16x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B0"/>
                </a:solidFill>
                <a:latin typeface="Courier New"/>
              </a:defRPr>
            </a:pPr>
            <a:r>
              <a:t>LTV:CAC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5669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84B"/>
                </a:solidFill>
                <a:latin typeface="Courier New"/>
              </a:defRPr>
            </a:pPr>
            <a:r>
              <a:t>~95%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B0"/>
                </a:solidFill>
                <a:latin typeface="Courier New"/>
              </a:defRPr>
            </a:pPr>
            <a:r>
              <a:t>Margin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8B8B"/>
                </a:solidFill>
                <a:latin typeface="Courier New"/>
              </a:defRPr>
            </a:pPr>
            <a:r>
              <a:t>FINANCIALS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8E8"/>
                </a:solidFill>
                <a:latin typeface="Calibri"/>
              </a:defRPr>
            </a:pPr>
            <a:r>
              <a:t>Cash-flow positive at Month 5.</a:t>
            </a:r>
            <a:br/>
            <a:r>
              <a:t>$3M grows, not depletes.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A9BB0"/>
                </a:solidFill>
                <a:latin typeface="Courier New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297680" y="2743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A9BB0"/>
                </a:solidFill>
                <a:latin typeface="Courier New"/>
              </a:defRPr>
            </a:pPr>
            <a:r>
              <a:t>Y1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2743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A9BB0"/>
                </a:solidFill>
                <a:latin typeface="Courier New"/>
              </a:defRPr>
            </a:pPr>
            <a:r>
              <a:t>Y2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2743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A9BB0"/>
                </a:solidFill>
                <a:latin typeface="Courier New"/>
              </a:defRPr>
            </a:pPr>
            <a:r>
              <a:t>Y3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91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BB0"/>
                </a:solidFill>
                <a:latin typeface="Courier New"/>
              </a:defRPr>
            </a:pPr>
            <a:r>
              <a:t>Base ARR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291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8E8E8"/>
                </a:solidFill>
                <a:latin typeface="Courier New"/>
              </a:defRPr>
            </a:pPr>
            <a:r>
              <a:t>$1.2M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3291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8E8E8"/>
                </a:solidFill>
                <a:latin typeface="Courier New"/>
              </a:defRPr>
            </a:pPr>
            <a:r>
              <a:t>$3.6M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3291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8E8E8"/>
                </a:solidFill>
                <a:latin typeface="Courier New"/>
              </a:defRPr>
            </a:pPr>
            <a:r>
              <a:t>$7.2M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023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B"/>
                </a:solidFill>
                <a:latin typeface="Courier New"/>
              </a:defRPr>
            </a:pPr>
            <a:r>
              <a:t>Expected ARR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023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4A84B"/>
                </a:solidFill>
                <a:latin typeface="Courier New"/>
              </a:defRPr>
            </a:pPr>
            <a:r>
              <a:t>$2.4M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4023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4A84B"/>
                </a:solidFill>
                <a:latin typeface="Courier New"/>
              </a:defRPr>
            </a:pPr>
            <a:r>
              <a:t>$7.2M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4023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4A84B"/>
                </a:solidFill>
                <a:latin typeface="Courier New"/>
              </a:defRPr>
            </a:pPr>
            <a:r>
              <a:t>$12M+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303520"/>
            <a:ext cx="3657600" cy="109728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5394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84B"/>
                </a:solidFill>
                <a:latin typeface="Courier New"/>
              </a:defRPr>
            </a:pPr>
            <a:r>
              <a:t>Month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943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B0"/>
                </a:solidFill>
                <a:latin typeface="Calibri"/>
              </a:defRPr>
            </a:pPr>
            <a:r>
              <a:t>Cash-flow positive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5303520"/>
            <a:ext cx="3657600" cy="109728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5394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84B"/>
                </a:solidFill>
                <a:latin typeface="Courier New"/>
              </a:defRPr>
            </a:pPr>
            <a:r>
              <a:t>$2.9M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5943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B0"/>
                </a:solidFill>
                <a:latin typeface="Calibri"/>
              </a:defRPr>
            </a:pPr>
            <a:r>
              <a:t>Minimum cash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5303520"/>
            <a:ext cx="3657600" cy="109728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5394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4A84B"/>
                </a:solidFill>
                <a:latin typeface="Courier New"/>
              </a:defRPr>
            </a:pPr>
            <a:r>
              <a:t>Optional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5943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B0"/>
                </a:solidFill>
                <a:latin typeface="Calibri"/>
              </a:defRPr>
            </a:pPr>
            <a:r>
              <a:t>The Series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713232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BB0"/>
                </a:solidFill>
                <a:latin typeface="Calibri"/>
              </a:defRPr>
            </a:pPr>
            <a:r>
              <a:t>$35K/month burn. 85+ months of runway.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8B8B"/>
                </a:solidFill>
                <a:latin typeface="Courier New"/>
              </a:defRPr>
            </a:pPr>
            <a: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E8E8E8"/>
                </a:solidFill>
                <a:latin typeface="Calibri"/>
              </a:defRPr>
            </a:pPr>
            <a:r>
              <a:t>Two pilots live. Sage scores 1.000.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3840480" cy="274320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B8B"/>
                </a:solidFill>
                <a:latin typeface="Courier New"/>
              </a:defRPr>
            </a:pPr>
            <a:r>
              <a:t>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926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— v4.2 — 24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— Autonomous daemon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840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— Multiple releases/day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2286000"/>
            <a:ext cx="3840480" cy="274320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B8B"/>
                </a:solidFill>
                <a:latin typeface="Courier New"/>
              </a:defRPr>
            </a:pPr>
            <a:r>
              <a:t>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926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— Sage: 1.000/1.000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— Config C: 60%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840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— Model-agnostic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49840" y="2286000"/>
            <a:ext cx="3840480" cy="274320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B8B"/>
                </a:solidFill>
                <a:latin typeface="Courier New"/>
              </a:defRPr>
            </a:pPr>
            <a:r>
              <a:t>Pilots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2926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— 2 startups onboarded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— 60-day structured pilots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3840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— Founding pricing locked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6692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D4A84B"/>
                </a:solidFill>
                <a:latin typeface="Courier New"/>
              </a:defRPr>
            </a:pPr>
            <a:r>
              <a:t>1.000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675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BB0"/>
                </a:solidFill>
                <a:latin typeface="Calibri"/>
              </a:defRPr>
            </a:pPr>
            <a:r>
              <a:t>Sage benchmark score. Cheaper model. Better output.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8B8B"/>
                </a:solidFill>
                <a:latin typeface="Courier New"/>
              </a:defRPr>
            </a:pPr>
            <a: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E8E8E8"/>
                </a:solidFill>
                <a:latin typeface="Calibri"/>
              </a:defRPr>
            </a:pPr>
            <a:r>
              <a:t>$3M at $9M pre. Base case: 15x.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BB0"/>
                </a:solidFill>
                <a:latin typeface="Courier New"/>
              </a:defRPr>
            </a:pPr>
            <a:r>
              <a:t>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BB0"/>
                </a:solidFill>
                <a:latin typeface="Courier New"/>
              </a:defRPr>
            </a:pPr>
            <a:r>
              <a:t>Exit ARR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BB0"/>
                </a:solidFill>
                <a:latin typeface="Courier New"/>
              </a:defRPr>
            </a:pPr>
            <a:r>
              <a:t>Multiple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59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BB0"/>
                </a:solidFill>
                <a:latin typeface="Courier New"/>
              </a:defRPr>
            </a:pPr>
            <a:r>
              <a:t>Return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8E8"/>
                </a:solidFill>
                <a:latin typeface="Courier New"/>
              </a:defRPr>
            </a:pPr>
            <a:r>
              <a:t>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8E8"/>
                </a:solidFill>
                <a:latin typeface="Courier New"/>
              </a:defRPr>
            </a:pPr>
            <a:r>
              <a:t>$15M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8E8"/>
                </a:solidFill>
                <a:latin typeface="Courier New"/>
              </a:defRPr>
            </a:pPr>
            <a:r>
              <a:t>6x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9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8E8"/>
                </a:solidFill>
                <a:latin typeface="Courier New"/>
              </a:defRPr>
            </a:pPr>
            <a:r>
              <a:t>15x — $45M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A84B"/>
                </a:solidFill>
                <a:latin typeface="Courier New"/>
              </a:defRPr>
            </a:pPr>
            <a:r>
              <a:t>Expected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A84B"/>
                </a:solidFill>
                <a:latin typeface="Courier New"/>
              </a:defRPr>
            </a:pPr>
            <a:r>
              <a:t>$20M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A84B"/>
                </a:solidFill>
                <a:latin typeface="Courier New"/>
              </a:defRPr>
            </a:pPr>
            <a:r>
              <a:t>8x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59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A84B"/>
                </a:solidFill>
                <a:latin typeface="Courier New"/>
              </a:defRPr>
            </a:pPr>
            <a:r>
              <a:t>16x — $48M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8E8"/>
                </a:solidFill>
                <a:latin typeface="Courier New"/>
              </a:defRPr>
            </a:pPr>
            <a:r>
              <a:t>Upside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8E8"/>
                </a:solidFill>
                <a:latin typeface="Courier New"/>
              </a:defRPr>
            </a:pPr>
            <a:r>
              <a:t>$100M+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8E8"/>
                </a:solidFill>
                <a:latin typeface="Courier New"/>
              </a:defRPr>
            </a:pPr>
            <a:r>
              <a:t>15x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59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8E8"/>
                </a:solidFill>
                <a:latin typeface="Courier New"/>
              </a:defRPr>
            </a:pPr>
            <a:r>
              <a:t>48–66x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3035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D4A84B"/>
                </a:solidFill>
                <a:latin typeface="Courier New"/>
              </a:defRPr>
            </a:pPr>
            <a:r>
              <a:t>21.5x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217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BB0"/>
                </a:solidFill>
                <a:latin typeface="Calibri"/>
              </a:defRPr>
            </a:pPr>
            <a:r>
              <a:t>Probability-weighted EV. Double the fail weight: still 17x.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713232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E8B8B"/>
                </a:solidFill>
                <a:latin typeface="Courier New"/>
              </a:defRPr>
            </a:pPr>
            <a:r>
              <a:t>Devin raised at $2B. Cursor at $400M. You're buying at $9M.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8B8B"/>
                </a:solidFill>
                <a:latin typeface="Courier New"/>
              </a:defRPr>
            </a:pPr>
            <a: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E8E8E8"/>
                </a:solidFill>
                <a:latin typeface="Calibri"/>
              </a:defRPr>
            </a:pPr>
            <a:r>
              <a:t>Founding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A9BB0"/>
                </a:solidFill>
                <a:latin typeface="Calibri"/>
              </a:defRPr>
            </a:pPr>
            <a:r>
              <a:t>Solo technical founder. Built the entire framework — 24 agents, autonomous daemon</a:t>
            </a:r>
            <a:br/>
            <a:r>
              <a:t>pipeline, marketing site — at $35K/month burn. No team. No outside capital.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572000"/>
            <a:ext cx="3657600" cy="137160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4663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8B8B"/>
                </a:solidFill>
                <a:latin typeface="Courier New"/>
              </a:defRPr>
            </a:pPr>
            <a:r>
              <a:t>Month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5029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E8E8"/>
                </a:solidFill>
                <a:latin typeface="Calibri"/>
              </a:defRPr>
            </a:pPr>
            <a:r>
              <a:t>Dev team + Sales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4572000"/>
            <a:ext cx="3657600" cy="137160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4663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8B8B"/>
                </a:solidFill>
                <a:latin typeface="Courier New"/>
              </a:defRPr>
            </a:pPr>
            <a:r>
              <a:t>Month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5029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E8E8"/>
                </a:solidFill>
                <a:latin typeface="Calibri"/>
              </a:defRPr>
            </a:pPr>
            <a:r>
              <a:t>Signing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4572000"/>
            <a:ext cx="3657600" cy="137160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0" y="4663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8B8B"/>
                </a:solidFill>
                <a:latin typeface="Courier New"/>
              </a:defRPr>
            </a:pPr>
            <a:r>
              <a:t>Month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5029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E8E8"/>
                </a:solidFill>
                <a:latin typeface="Calibri"/>
              </a:defRPr>
            </a:pPr>
            <a:r>
              <a:t>Integration + feedback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68580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8E8"/>
                </a:solidFill>
                <a:latin typeface="Calibri"/>
              </a:defRPr>
            </a:pPr>
            <a:r>
              <a:t>The product is built. The team is the bottleneck. That's what the raise solves.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8B8B"/>
                </a:solidFill>
                <a:latin typeface="Courier New"/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E8E8"/>
                </a:solidFill>
                <a:latin typeface="Calibri"/>
              </a:defRPr>
            </a:pPr>
            <a:r>
              <a:t>$3M to own the AI org layer.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4A84B"/>
                </a:solidFill>
                <a:latin typeface="Courier New"/>
              </a:defRPr>
            </a:pPr>
            <a:r>
              <a:t>$3M Seed  |  $9M Pre-Money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4048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8B8B"/>
                </a:solidFill>
                <a:latin typeface="Courier New"/>
              </a:defRPr>
            </a:pPr>
            <a:r>
              <a:t>Year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2976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BB0"/>
                </a:solidFill>
                <a:latin typeface="Calibri"/>
              </a:defRPr>
            </a:pPr>
            <a:r>
              <a:t>Founder + eng team</a:t>
            </a:r>
            <a:br/>
            <a:r>
              <a:t>Pilot → 10 clients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384048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8B8B"/>
                </a:solidFill>
                <a:latin typeface="Courier New"/>
              </a:defRPr>
            </a:pPr>
            <a:r>
              <a:t>Year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42976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BB0"/>
                </a:solidFill>
                <a:latin typeface="Calibri"/>
              </a:defRPr>
            </a:pPr>
            <a:r>
              <a:t>5-person team</a:t>
            </a:r>
            <a:br/>
            <a:r>
              <a:t>Scale to 50+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49840" y="384048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0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8B8B"/>
                </a:solidFill>
                <a:latin typeface="Courier New"/>
              </a:defRPr>
            </a:pPr>
            <a:r>
              <a:t>Path to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42976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BB0"/>
                </a:solidFill>
                <a:latin typeface="Calibri"/>
              </a:defRPr>
            </a:pPr>
            <a:r>
              <a:t>$3-10M ARR</a:t>
            </a:r>
            <a:br/>
            <a:r>
              <a:t>18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64008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FF00"/>
                </a:solidFill>
                <a:latin typeface="Calibri"/>
              </a:defRPr>
            </a:pPr>
            <a:r>
              <a:t>The most capital-efficient AI seed deal in the market.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8B8B"/>
                </a:solidFill>
                <a:latin typeface="Courier New"/>
              </a:defRPr>
            </a:pPr>
            <a:r>
              <a:t>APPENDIX: BENCHMARK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8E8"/>
                </a:solidFill>
                <a:latin typeface="Calibri"/>
              </a:defRPr>
            </a:pPr>
            <a:r>
              <a:t>How we measure. Why it matters.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BB0"/>
                </a:solidFill>
                <a:latin typeface="Calibri"/>
              </a:defRPr>
            </a:pPr>
            <a:r>
              <a:t>No industry benchmark exists for multi-agent AI coordination. We defined this because nobody else is measuring what matters.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8B8B"/>
                </a:solidFill>
                <a:latin typeface="Courier New"/>
              </a:defRPr>
            </a:pPr>
            <a:r>
              <a:t>5 WEIGHTED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84B"/>
                </a:solidFill>
                <a:latin typeface="Courier New"/>
              </a:defRPr>
            </a:pPr>
            <a:r>
              <a:t>0.30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9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8E8"/>
                </a:solidFill>
                <a:latin typeface="Calibri"/>
              </a:defRPr>
            </a:pPr>
            <a:r>
              <a:t>Decision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926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B0"/>
                </a:solidFill>
                <a:latin typeface="Calibri"/>
              </a:defRPr>
            </a:pPr>
            <a:r>
              <a:t>Specific, differentiated, actionable agent outputs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74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84B"/>
                </a:solidFill>
                <a:latin typeface="Courier New"/>
              </a:defRPr>
            </a:pPr>
            <a:r>
              <a:t>0.25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8E8"/>
                </a:solidFill>
                <a:latin typeface="Calibri"/>
              </a:defRPr>
            </a:pPr>
            <a:r>
              <a:t>Research Depth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474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B0"/>
                </a:solidFill>
                <a:latin typeface="Calibri"/>
              </a:defRPr>
            </a:pPr>
            <a:r>
              <a:t>4 binary gates: mapping, detection, spawning, ceiling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023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84B"/>
                </a:solidFill>
                <a:latin typeface="Courier New"/>
              </a:defRPr>
            </a:pPr>
            <a:r>
              <a:t>0.20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8E8"/>
                </a:solidFill>
                <a:latin typeface="Calibri"/>
              </a:defRPr>
            </a:pPr>
            <a:r>
              <a:t>Drift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0233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B0"/>
                </a:solidFill>
                <a:latin typeface="Calibri"/>
              </a:defRPr>
            </a:pPr>
            <a:r>
              <a:t>Catches process violations, proposes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720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84B"/>
                </a:solidFill>
                <a:latin typeface="Courier New"/>
              </a:defRPr>
            </a:pPr>
            <a:r>
              <a:t>0.15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8E8"/>
                </a:solidFill>
                <a:latin typeface="Calibri"/>
              </a:defRPr>
            </a:pPr>
            <a:r>
              <a:t>Intake 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5720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B0"/>
                </a:solidFill>
                <a:latin typeface="Calibri"/>
              </a:defRPr>
            </a:pPr>
            <a:r>
              <a:t>3 known-correct routing prompts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120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84B"/>
                </a:solidFill>
                <a:latin typeface="Courier New"/>
              </a:defRPr>
            </a:pPr>
            <a:r>
              <a:t>0.10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8E8"/>
                </a:solidFill>
                <a:latin typeface="Calibri"/>
              </a:defRPr>
            </a:pPr>
            <a:r>
              <a:t>Session Mgmt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5120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BB0"/>
                </a:solidFill>
                <a:latin typeface="Calibri"/>
              </a:defRPr>
            </a:pPr>
            <a:r>
              <a:t>Break points, snapshots, cold-start priming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760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8B8B"/>
                </a:solidFill>
                <a:latin typeface="Courier New"/>
              </a:defRPr>
            </a:pPr>
            <a:r>
              <a:t>4 CONFIGURATIONS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60350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A9BB0"/>
                </a:solidFill>
                <a:latin typeface="Courier New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2743200" y="60350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A9BB0"/>
                </a:solidFill>
                <a:latin typeface="Courier New"/>
              </a:defRPr>
            </a:pPr>
            <a:r>
              <a:t>Setup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6035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A9BB0"/>
                </a:solidFill>
                <a:latin typeface="Courier New"/>
              </a:defRPr>
            </a:pPr>
            <a:r>
              <a:t>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035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A9BB0"/>
                </a:solidFill>
                <a:latin typeface="Courier New"/>
              </a:defRPr>
            </a:pPr>
            <a:r>
              <a:t>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B0"/>
                </a:solidFill>
                <a:latin typeface="Courier New"/>
              </a:defRPr>
            </a:pPr>
            <a: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6309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B0"/>
                </a:solidFill>
                <a:latin typeface="Courier New"/>
              </a:defRPr>
            </a:pPr>
            <a:r>
              <a:t>Weak + Opus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6309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A9BB0"/>
                </a:solidFill>
                <a:latin typeface="Courier New"/>
              </a:defRPr>
            </a:pPr>
            <a:r>
              <a:t>0.957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309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B0"/>
                </a:solidFill>
                <a:latin typeface="Courier New"/>
              </a:defRPr>
            </a:pPr>
            <a:r>
              <a:t>~100%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6675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ourier New"/>
              </a:defRPr>
            </a:pPr>
            <a: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6675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ourier New"/>
              </a:defRPr>
            </a:pPr>
            <a:r>
              <a:t>Strong + Opus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6675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8E8"/>
                </a:solidFill>
                <a:latin typeface="Courier New"/>
              </a:defRPr>
            </a:pPr>
            <a:r>
              <a:t>1.000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6675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ourier New"/>
              </a:defRPr>
            </a:pPr>
            <a: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7040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4B"/>
                </a:solidFill>
                <a:latin typeface="Courier New"/>
              </a:defRPr>
            </a:pPr>
            <a:r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70408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4A84B"/>
                </a:solidFill>
                <a:latin typeface="Courier New"/>
              </a:defRPr>
            </a:pPr>
            <a:r>
              <a:t>Strong + tiered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7040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4B"/>
                </a:solidFill>
                <a:latin typeface="Courier New"/>
              </a:defRPr>
            </a:pPr>
            <a:r>
              <a:t>1.000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7040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4A84B"/>
                </a:solidFill>
                <a:latin typeface="Courier New"/>
              </a:defRPr>
            </a:pPr>
            <a:r>
              <a:t>~60%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7406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B0"/>
                </a:solidFill>
                <a:latin typeface="Courier New"/>
              </a:defRPr>
            </a:pPr>
            <a:r>
              <a:t>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7406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B0"/>
                </a:solidFill>
                <a:latin typeface="Courier New"/>
              </a:defRPr>
            </a:pPr>
            <a:r>
              <a:t>Strong + Sonnet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7406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A9BB0"/>
                </a:solidFill>
                <a:latin typeface="Courier New"/>
              </a:defRPr>
            </a:pPr>
            <a:r>
              <a:t>0.957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7406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BB0"/>
                </a:solidFill>
                <a:latin typeface="Courier New"/>
              </a:defRPr>
            </a:pPr>
            <a:r>
              <a:t>~40%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